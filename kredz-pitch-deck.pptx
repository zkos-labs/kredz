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D4A853"/>
                </a:solidFill>
                <a:latin typeface="Georgia"/>
              </a:defRPr>
            </a:pPr>
            <a:r>
              <a:t>KREDZ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651760"/>
            <a:ext cx="1828800" cy="54864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EFF4FF"/>
                </a:solidFill>
                <a:latin typeface="Calibri"/>
              </a:defRPr>
            </a:pPr>
            <a:r>
              <a:t>The Dual-Privacy Credit Identity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98A92"/>
                </a:solidFill>
                <a:latin typeface="Calibri"/>
              </a:defRPr>
            </a:pPr>
            <a:r>
              <a:t>Bridging crypto-native borrowers to institutional lenders</a:t>
            </a:r>
            <a:br/>
            <a:r>
              <a:t>with ZK proofs on Midnight + sub-transaction privacy on Canton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56939"/>
                </a:solidFill>
                <a:latin typeface="Calibri"/>
              </a:defRPr>
            </a:pPr>
            <a:r>
              <a:t>Build on Canton Hackathon ·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98A92"/>
                </a:solidFill>
                <a:latin typeface="Calibri"/>
              </a:defRPr>
            </a:pPr>
            <a:r>
              <a:t>Track: Private DeFi &amp; Capital Markets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73152" cy="54864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The Credit Identity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200400" cy="2011680"/>
          </a:xfrm>
          <a:prstGeom prst="rect">
            <a:avLst/>
          </a:prstGeom>
          <a:solidFill>
            <a:srgbClr val="0A0F2A"/>
          </a:solidFill>
          <a:ln w="6350">
            <a:solidFill>
              <a:srgbClr val="B56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D4A853"/>
                </a:solidFill>
                <a:latin typeface="Calibri"/>
              </a:defRPr>
            </a:pPr>
            <a:r>
              <a:t>1.4B+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517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F4FF"/>
                </a:solidFill>
                <a:latin typeface="Calibri"/>
              </a:defRPr>
            </a:pPr>
            <a:r>
              <a:t>Adults globally unbanked</a:t>
            </a:r>
            <a:br/>
            <a:r>
              <a:t>— no formal credit file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1645920"/>
            <a:ext cx="3200400" cy="2011680"/>
          </a:xfrm>
          <a:prstGeom prst="rect">
            <a:avLst/>
          </a:prstGeom>
          <a:solidFill>
            <a:srgbClr val="0A0F2A"/>
          </a:solidFill>
          <a:ln w="6350">
            <a:solidFill>
              <a:srgbClr val="B56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8288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D4A853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6517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F4FF"/>
                </a:solidFill>
                <a:latin typeface="Calibri"/>
              </a:defRPr>
            </a:pPr>
            <a:r>
              <a:t>Under-collateralized</a:t>
            </a:r>
            <a:br/>
            <a:r>
              <a:t>lending on-chain today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645920"/>
            <a:ext cx="3200400" cy="2011680"/>
          </a:xfrm>
          <a:prstGeom prst="rect">
            <a:avLst/>
          </a:prstGeom>
          <a:solidFill>
            <a:srgbClr val="0A0F2A"/>
          </a:solidFill>
          <a:ln w="6350">
            <a:solidFill>
              <a:srgbClr val="B56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8288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D4A853"/>
                </a:solidFill>
                <a:latin typeface="Calibri"/>
              </a:defRPr>
            </a:pPr>
            <a:r>
              <a:t>3 in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6517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F4FF"/>
                </a:solidFill>
                <a:latin typeface="Calibri"/>
              </a:defRPr>
            </a:pPr>
            <a:r>
              <a:t>Crypto-native users lack</a:t>
            </a:r>
            <a:br/>
            <a:r>
              <a:t>institutional credit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56939"/>
                </a:solidFill>
                <a:latin typeface="Calibri"/>
              </a:defRPr>
            </a:pPr>
            <a:r>
              <a:t>Existing Solutions Fall Short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805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FF4FF"/>
                </a:solidFill>
                <a:latin typeface="Calibri"/>
              </a:defRPr>
            </a:pPr>
            <a:r>
              <a:t>No protocol combines web2 banking + web3 on-chain + literacy into one portable score</a:t>
            </a:r>
          </a:p>
          <a:p>
            <a:pPr>
              <a:defRPr sz="1300">
                <a:solidFill>
                  <a:srgbClr val="EFF4FF"/>
                </a:solidFill>
                <a:latin typeface="Calibri"/>
              </a:defRPr>
            </a:pPr>
            <a:r>
              <a:t>All lending requires either full identity disclosure (bad for privacy) or lending blind (bad for compliance)</a:t>
            </a:r>
          </a:p>
          <a:p>
            <a:pPr>
              <a:defRPr sz="1300">
                <a:solidFill>
                  <a:srgbClr val="EFF4FF"/>
                </a:solidFill>
                <a:latin typeface="Calibri"/>
              </a:defRPr>
            </a:pPr>
            <a:r>
              <a:t>Institutional lenders entering DeFi need compliance-ready credit oracles — none exist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217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98A92"/>
                </a:solidFill>
                <a:latin typeface="Calibri"/>
              </a:defRPr>
            </a:pPr>
            <a:r>
              <a:t>The regulatory moment: MiCA (2024) + GENIUS Act (2025) mandate compliance for on-chain lending.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73152" cy="54864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Three-Layer KREDZ Score (0–1000)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solidFill>
            <a:srgbClr val="0A0F2A"/>
          </a:solidFill>
          <a:ln w="6350">
            <a:solidFill>
              <a:srgbClr val="B56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20" y="17830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B56939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56939"/>
                </a:solidFill>
                <a:latin typeface="Calibri"/>
              </a:defRPr>
            </a:pPr>
            <a:r>
              <a:t>Layer 1: On-Chain 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945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F4FF"/>
                </a:solidFill>
                <a:latin typeface="Calibri"/>
              </a:defRPr>
            </a:pPr>
            <a:r>
              <a:t>Wallet age · DeFi interactions · Repayment history</a:t>
            </a:r>
            <a:br/>
            <a:r>
              <a:t>Transaction frequency · Governance · Cross-chain activity</a:t>
            </a:r>
            <a:br/>
            <a:r>
              <a:t>→ Pulled from Midnight indexer + EVM RPCs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291840"/>
            <a:ext cx="10332720" cy="1371600"/>
          </a:xfrm>
          <a:prstGeom prst="rect">
            <a:avLst/>
          </a:prstGeom>
          <a:solidFill>
            <a:srgbClr val="0A0F2A"/>
          </a:solidFill>
          <a:ln w="6350">
            <a:solidFill>
              <a:srgbClr val="B56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0" y="34290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D4A853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383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853"/>
                </a:solidFill>
                <a:latin typeface="Calibri"/>
              </a:defRPr>
            </a:pPr>
            <a:r>
              <a:t>Layer 2: ZK-Attested KYC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8404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F4FF"/>
                </a:solidFill>
                <a:latin typeface="Calibri"/>
              </a:defRPr>
            </a:pPr>
            <a:r>
              <a:t>Income range · Employment status · Bank account history</a:t>
            </a:r>
            <a:br/>
            <a:r>
              <a:t>E-wallet volume · Credit commitments · Jurisdiction</a:t>
            </a:r>
            <a:br/>
            <a:r>
              <a:t>→ ZK-proven on Midnight — raw data never exposed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937760"/>
            <a:ext cx="10332720" cy="1371600"/>
          </a:xfrm>
          <a:prstGeom prst="rect">
            <a:avLst/>
          </a:prstGeom>
          <a:solidFill>
            <a:srgbClr val="0A0F2A"/>
          </a:solidFill>
          <a:ln w="6350">
            <a:solidFill>
              <a:srgbClr val="B56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20" y="50749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5CCE7A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CCE7A"/>
                </a:solidFill>
                <a:latin typeface="Calibri"/>
              </a:defRPr>
            </a:pPr>
            <a:r>
              <a:t>Layer 3: Financial Literacy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4864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F4FF"/>
                </a:solidFill>
                <a:latin typeface="Calibri"/>
              </a:defRPr>
            </a:pPr>
            <a:r>
              <a:t>5+ modules with quizzes, XP, and time-decay</a:t>
            </a:r>
            <a:br/>
            <a:r>
              <a:t>Streak bonuses · First-attempt accuracy · Recency</a:t>
            </a:r>
            <a:br/>
            <a:r>
              <a:t>→ Behavioral moat — longitudinal, hard to fake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6492240"/>
            <a:ext cx="10332720" cy="18288"/>
          </a:xfrm>
          <a:prstGeom prst="rect">
            <a:avLst/>
          </a:prstGeom>
          <a:solidFill>
            <a:srgbClr val="B56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5379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98A92"/>
                </a:solidFill>
                <a:latin typeface="Calibri"/>
              </a:defRPr>
            </a:pPr>
            <a:r>
              <a:t>AI scoring engine: XGBoost + Python · Attested on-chain via Midnight ZK circuits · Ported to Canton via KredzScore DAML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73152" cy="54864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Three-Network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98A92"/>
                </a:solidFill>
                <a:latin typeface="Calibri"/>
              </a:defRPr>
            </a:pPr>
            <a:r>
              <a:t>Midnight builds the score privately. Canton distributes to institutions. Base makes it portable across EVM.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3291840" cy="3474720"/>
          </a:xfrm>
          <a:prstGeom prst="rect">
            <a:avLst/>
          </a:prstGeom>
          <a:solidFill>
            <a:srgbClr val="0A0F2A"/>
          </a:solidFill>
          <a:ln w="6350">
            <a:solidFill>
              <a:srgbClr val="B56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853"/>
                </a:solidFill>
                <a:latin typeface="Georgia"/>
              </a:defRPr>
            </a:pPr>
            <a:r>
              <a:t>MIDNIGHT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F4FF"/>
                </a:solidFill>
                <a:latin typeface="Calibri"/>
              </a:defRPr>
            </a:pPr>
            <a:r>
              <a:t>Credit 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08960"/>
            <a:ext cx="2926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F4FF"/>
                </a:solidFill>
                <a:latin typeface="Calibri"/>
              </a:defRPr>
            </a:pPr>
            <a:r>
              <a:t>ZK proofs via Compact circuits</a:t>
            </a:r>
            <a:br/>
            <a:r>
              <a:t>Selective disclosure</a:t>
            </a:r>
            <a:br/>
            <a:r>
              <a:t>Literacy XP on-chain</a:t>
            </a:r>
            <a:br/>
            <a:r>
              <a:t>Shielded credential storage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011680"/>
            <a:ext cx="3291840" cy="3474720"/>
          </a:xfrm>
          <a:prstGeom prst="rect">
            <a:avLst/>
          </a:prstGeom>
          <a:solidFill>
            <a:srgbClr val="0A0F2A"/>
          </a:solidFill>
          <a:ln w="6350">
            <a:solidFill>
              <a:srgbClr val="B56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194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56939"/>
                </a:solidFill>
                <a:latin typeface="Georgia"/>
              </a:defRPr>
            </a:pPr>
            <a:r>
              <a:t>CANTON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F4FF"/>
                </a:solidFill>
                <a:latin typeface="Calibri"/>
              </a:defRPr>
            </a:pPr>
            <a:r>
              <a:t>Institutional Credit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108960"/>
            <a:ext cx="2926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F4FF"/>
                </a:solidFill>
                <a:latin typeface="Calibri"/>
              </a:defRPr>
            </a:pPr>
            <a:r>
              <a:t>Sub-transaction privacy</a:t>
            </a:r>
            <a:br/>
            <a:r>
              <a:t>KredzScore DAML + QueryScore</a:t>
            </a:r>
            <a:br/>
            <a:r>
              <a:t>Immutable KredzAuditLog</a:t>
            </a:r>
            <a:br/>
            <a:r>
              <a:t>Lender subscriptions</a:t>
            </a:r>
            <a:br/>
            <a:r>
              <a:t>MiCA/GENIUS Act compliant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011680"/>
            <a:ext cx="3291840" cy="3474720"/>
          </a:xfrm>
          <a:prstGeom prst="rect">
            <a:avLst/>
          </a:prstGeom>
          <a:solidFill>
            <a:srgbClr val="0A0F2A"/>
          </a:solidFill>
          <a:ln w="6350">
            <a:solidFill>
              <a:srgbClr val="B56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194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CCE7A"/>
                </a:solidFill>
                <a:latin typeface="Georgia"/>
              </a:defRPr>
            </a:pPr>
            <a:r>
              <a:t>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F4FF"/>
                </a:solidFill>
                <a:latin typeface="Calibri"/>
              </a:defRPr>
            </a:pPr>
            <a:r>
              <a:t>EVM Portability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108960"/>
            <a:ext cx="2926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F4FF"/>
                </a:solidFill>
                <a:latin typeface="Calibri"/>
              </a:defRPr>
            </a:pPr>
            <a:r>
              <a:t>ERC-8004 SBT badge</a:t>
            </a:r>
            <a:br/>
            <a:r>
              <a:t>IKredzOracle for DeFi</a:t>
            </a:r>
            <a:br/>
            <a:r>
              <a:t>ECDSA attestation verifier</a:t>
            </a:r>
            <a:br/>
            <a:r>
              <a:t>Cross-chain composability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200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D4A85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200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D4A85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853"/>
                </a:solidFill>
                <a:latin typeface="Calibri"/>
              </a:defRPr>
            </a:pPr>
            <a:r>
              <a:t>→ Users onboard once on Midnight. Their score flows to wherever lenders operate.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73152" cy="54864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Dual-Privacy Model — Our Hackathon Differentiator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4846320" cy="4572000"/>
          </a:xfrm>
          <a:prstGeom prst="rect">
            <a:avLst/>
          </a:prstGeom>
          <a:solidFill>
            <a:srgbClr val="0A0F2A"/>
          </a:solidFill>
          <a:ln w="6350">
            <a:solidFill>
              <a:srgbClr val="B56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853"/>
                </a:solidFill>
                <a:latin typeface="Calibri"/>
              </a:defRPr>
            </a:pPr>
            <a:r>
              <a:t>Zero-Knowledge (Midnight)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98A92"/>
                </a:solidFill>
                <a:latin typeface="Calibri"/>
              </a:defRPr>
            </a:pPr>
            <a:r>
              <a:t>Borrower Privacy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43200"/>
            <a:ext cx="4297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FF4FF"/>
                </a:solidFill>
                <a:latin typeface="Calibri"/>
              </a:defRPr>
            </a:pPr>
            <a:r>
              <a:t>Prove financial attributes</a:t>
            </a:r>
            <a:br/>
            <a:r>
              <a:t>without revealing raw data</a:t>
            </a:r>
          </a:p>
          <a:p>
            <a:pPr>
              <a:defRPr sz="1200">
                <a:solidFill>
                  <a:srgbClr val="EFF4FF"/>
                </a:solidFill>
                <a:latin typeface="Calibri"/>
              </a:defRPr>
            </a:pPr>
            <a:r>
              <a:t>Income is "above $5,000"</a:t>
            </a:r>
            <a:br/>
            <a:r>
              <a:t>not "$7,250"</a:t>
            </a:r>
          </a:p>
          <a:p>
            <a:pPr>
              <a:defRPr sz="1200">
                <a:solidFill>
                  <a:srgbClr val="EFF4FF"/>
                </a:solidFill>
                <a:latin typeface="Calibri"/>
              </a:defRPr>
            </a:pPr>
            <a:r>
              <a:t>Selective disclosure:</a:t>
            </a:r>
            <a:br/>
            <a:r>
              <a:t>choose what to prove</a:t>
            </a:r>
          </a:p>
          <a:p>
            <a:pPr>
              <a:defRPr sz="1200">
                <a:solidFill>
                  <a:srgbClr val="EFF4FF"/>
                </a:solidFill>
                <a:latin typeface="Calibri"/>
              </a:defRPr>
            </a:pPr>
            <a:r>
              <a:t>Compact circuits on Midnight</a:t>
            </a:r>
            <a:br/>
            <a:r>
              <a:t>No proof generation overhead</a:t>
            </a:r>
            <a:br/>
            <a:r>
              <a:t>on Canton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4846320" cy="4572000"/>
          </a:xfrm>
          <a:prstGeom prst="rect">
            <a:avLst/>
          </a:prstGeom>
          <a:solidFill>
            <a:srgbClr val="0A0F2A"/>
          </a:solidFill>
          <a:ln w="6350">
            <a:solidFill>
              <a:srgbClr val="B56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56939"/>
                </a:solidFill>
                <a:latin typeface="Calibri"/>
              </a:defRPr>
            </a:pPr>
            <a:r>
              <a:t>Sub-Transaction (Canton)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28600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98A92"/>
                </a:solidFill>
                <a:latin typeface="Calibri"/>
              </a:defRPr>
            </a:pPr>
            <a:r>
              <a:t>Lender Confidentiality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743200"/>
            <a:ext cx="4297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FF4FF"/>
                </a:solidFill>
                <a:latin typeface="Calibri"/>
              </a:defRPr>
            </a:pPr>
            <a:r>
              <a:t>Lenders only see score queries</a:t>
            </a:r>
            <a:br/>
            <a:r>
              <a:t>they initiated themselves</a:t>
            </a:r>
          </a:p>
          <a:p>
            <a:pPr>
              <a:defRPr sz="1200">
                <a:solidFill>
                  <a:srgbClr val="EFF4FF"/>
                </a:solidFill>
                <a:latin typeface="Calibri"/>
              </a:defRPr>
            </a:pPr>
            <a:r>
              <a:t>No other participant</a:t>
            </a:r>
            <a:br/>
            <a:r>
              <a:t>can observe the transaction</a:t>
            </a:r>
          </a:p>
          <a:p>
            <a:pPr>
              <a:defRPr sz="1200">
                <a:solidFill>
                  <a:srgbClr val="EFF4FF"/>
                </a:solidFill>
                <a:latin typeface="Calibri"/>
              </a:defRPr>
            </a:pPr>
            <a:r>
              <a:t>DAML signatories:</a:t>
            </a:r>
            <a:br/>
            <a:r>
              <a:t>only kredz + querying lender</a:t>
            </a:r>
          </a:p>
          <a:p>
            <a:pPr>
              <a:defRPr sz="1200">
                <a:solidFill>
                  <a:srgbClr val="EFF4FF"/>
                </a:solidFill>
                <a:latin typeface="Calibri"/>
              </a:defRPr>
            </a:pPr>
            <a:r>
              <a:t>KredzAuditLog: immutable</a:t>
            </a:r>
            <a:br/>
            <a:r>
              <a:t>compliance evidence</a:t>
            </a:r>
            <a:br/>
            <a:r>
              <a:t>co-signed by both parties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853"/>
                </a:solidFill>
                <a:latin typeface="Calibri"/>
              </a:defRPr>
            </a:pPr>
            <a:r>
              <a:t>Two complementary privacy models. One portable score.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73152" cy="54864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Canton Deep Dive — DAML Contracts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291840" cy="2560320"/>
          </a:xfrm>
          <a:prstGeom prst="rect">
            <a:avLst/>
          </a:prstGeom>
          <a:solidFill>
            <a:srgbClr val="0A0F2A"/>
          </a:solidFill>
          <a:ln w="6350">
            <a:solidFill>
              <a:srgbClr val="B56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853"/>
                </a:solidFill>
                <a:latin typeface="Georgia"/>
              </a:defRPr>
            </a:pPr>
            <a:r>
              <a:t>KredzScore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F4FF"/>
                </a:solidFill>
                <a:latin typeface="Calibri"/>
              </a:defRPr>
            </a:pPr>
            <a:r>
              <a:t>Score registry with QueryScore choice</a:t>
            </a:r>
            <a:br/>
            <a:r>
              <a:t>Lender queries → KredzScoreResponse</a:t>
            </a:r>
            <a:br/>
            <a:r>
              <a:t>UpdateScore, ExpireScore choices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645920"/>
            <a:ext cx="3291840" cy="2560320"/>
          </a:xfrm>
          <a:prstGeom prst="rect">
            <a:avLst/>
          </a:prstGeom>
          <a:solidFill>
            <a:srgbClr val="0A0F2A"/>
          </a:solidFill>
          <a:ln w="6350">
            <a:solidFill>
              <a:srgbClr val="B56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853"/>
                </a:solidFill>
                <a:latin typeface="Georgia"/>
              </a:defRPr>
            </a:pPr>
            <a:r>
              <a:t>KredzQuery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2860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F4FF"/>
                </a:solidFill>
                <a:latin typeface="Calibri"/>
              </a:defRPr>
            </a:pPr>
            <a:r>
              <a:t>Response + Audit log</a:t>
            </a:r>
            <a:br/>
            <a:r>
              <a:t>KredzScoreResponse: visible to operator+lender only</a:t>
            </a:r>
            <a:br/>
            <a:r>
              <a:t>KredzAuditLog: immutable, co-signed, never archived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645920"/>
            <a:ext cx="3291840" cy="2560320"/>
          </a:xfrm>
          <a:prstGeom prst="rect">
            <a:avLst/>
          </a:prstGeom>
          <a:solidFill>
            <a:srgbClr val="0A0F2A"/>
          </a:solidFill>
          <a:ln w="6350">
            <a:solidFill>
              <a:srgbClr val="B56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853"/>
                </a:solidFill>
                <a:latin typeface="Georgia"/>
              </a:defRPr>
            </a:pPr>
            <a:r>
              <a:t>KredzSubscription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2860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F4FF"/>
                </a:solidFill>
                <a:latin typeface="Calibri"/>
              </a:defRPr>
            </a:pPr>
            <a:r>
              <a:t>Lender watchlist</a:t>
            </a:r>
            <a:br/>
            <a:r>
              <a:t>AddBorrower, RemoveBorrower</a:t>
            </a:r>
            <a:br/>
            <a:r>
              <a:t>Webhook delivery</a:t>
            </a:r>
            <a:br/>
            <a:r>
              <a:t>Configurable score threshold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56939"/>
                </a:solidFill>
                <a:latin typeface="Calibri"/>
              </a:defRPr>
            </a:pPr>
            <a:r>
              <a:t>Why Canton?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292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FF4FF"/>
                </a:solidFill>
                <a:latin typeface="Calibri"/>
              </a:defRPr>
            </a:pPr>
            <a:r>
              <a:t>Sub-transaction privacy: QueryScore results are hidden from  all non-participating parties — no other lender can see who you're assessing</a:t>
            </a:r>
          </a:p>
          <a:p>
            <a:pPr>
              <a:defRPr sz="1300">
                <a:solidFill>
                  <a:srgbClr val="EFF4FF"/>
                </a:solidFill>
                <a:latin typeface="Calibri"/>
              </a:defRPr>
            </a:pPr>
            <a:r>
              <a:t>Immutable compliance: KredzAuditLog is co-signed, satisfies MiCA/GENIUS Act audit requirements</a:t>
            </a:r>
          </a:p>
          <a:p>
            <a:pPr>
              <a:defRPr sz="1300">
                <a:solidFill>
                  <a:srgbClr val="EFF4FF"/>
                </a:solidFill>
                <a:latin typeface="Calibri"/>
              </a:defRPr>
            </a:pPr>
            <a:r>
              <a:t>Institutional-ready: Goldman, BNP, Deloitte already operate Canton nodes — kredz plugs directly into their 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98A92"/>
                </a:solidFill>
                <a:latin typeface="Calibri"/>
              </a:defRPr>
            </a:pPr>
            <a:r>
              <a:t>5 DAML Script tests written: lifecycle · update · expiry · subscription · sub-transaction privacy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73152" cy="54864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End-to-End Demo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1737360" cy="4114800"/>
          </a:xfrm>
          <a:prstGeom prst="rect">
            <a:avLst/>
          </a:prstGeom>
          <a:solidFill>
            <a:srgbClr val="0A0F2A"/>
          </a:solidFill>
          <a:ln w="6350">
            <a:solidFill>
              <a:srgbClr val="B56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853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77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F4FF"/>
                </a:solidFill>
                <a:latin typeface="Calibri"/>
              </a:defRPr>
            </a:pPr>
            <a:r>
              <a:t>Connect Wallet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34640"/>
            <a:ext cx="1463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F4FF"/>
                </a:solidFill>
                <a:latin typeface="Calibri"/>
              </a:defRPr>
            </a:pPr>
            <a:r>
              <a:t>User connects Lace</a:t>
            </a:r>
            <a:br/>
            <a:r>
              <a:t>(Midnight) + MetaMask</a:t>
            </a:r>
            <a:br/>
            <a:r>
              <a:t>(Base)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5693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645920"/>
            <a:ext cx="1737360" cy="4114800"/>
          </a:xfrm>
          <a:prstGeom prst="rect">
            <a:avLst/>
          </a:prstGeom>
          <a:solidFill>
            <a:srgbClr val="0A0F2A"/>
          </a:solidFill>
          <a:ln w="6350">
            <a:solidFill>
              <a:srgbClr val="B56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85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377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F4FF"/>
                </a:solidFill>
                <a:latin typeface="Calibri"/>
              </a:defRPr>
            </a:pPr>
            <a:r>
              <a:t>Select Tier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834640"/>
            <a:ext cx="1463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F4FF"/>
                </a:solidFill>
                <a:latin typeface="Calibri"/>
              </a:defRPr>
            </a:pPr>
            <a:r>
              <a:t>Choose privacy level:</a:t>
            </a:r>
            <a:br/>
            <a:r>
              <a:t>Anonymous, Pseudonymous,</a:t>
            </a:r>
            <a:br/>
            <a:r>
              <a:t>or Full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5693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645920"/>
            <a:ext cx="1737360" cy="4114800"/>
          </a:xfrm>
          <a:prstGeom prst="rect">
            <a:avLst/>
          </a:prstGeom>
          <a:solidFill>
            <a:srgbClr val="0A0F2A"/>
          </a:solidFill>
          <a:ln w="6350">
            <a:solidFill>
              <a:srgbClr val="B56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85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377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F4FF"/>
                </a:solidFill>
                <a:latin typeface="Calibri"/>
              </a:defRPr>
            </a:pPr>
            <a:r>
              <a:t>Build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834640"/>
            <a:ext cx="1463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F4FF"/>
                </a:solidFill>
                <a:latin typeface="Calibri"/>
              </a:defRPr>
            </a:pPr>
            <a:r>
              <a:t>On-chain signals + ZK</a:t>
            </a:r>
            <a:br/>
            <a:r>
              <a:t>KYC attestation +</a:t>
            </a:r>
            <a:br/>
            <a:r>
              <a:t>literacy modules →</a:t>
            </a:r>
            <a:br/>
            <a:r>
              <a:t>KREDZ Score (0-1000)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5693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645920"/>
            <a:ext cx="1737360" cy="4114800"/>
          </a:xfrm>
          <a:prstGeom prst="rect">
            <a:avLst/>
          </a:prstGeom>
          <a:solidFill>
            <a:srgbClr val="0A0F2A"/>
          </a:solidFill>
          <a:ln w="6350">
            <a:solidFill>
              <a:srgbClr val="B56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853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377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F4FF"/>
                </a:solidFill>
                <a:latin typeface="Calibri"/>
              </a:defRPr>
            </a:pPr>
            <a:r>
              <a:t>Attest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834640"/>
            <a:ext cx="1463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F4FF"/>
                </a:solidFill>
                <a:latin typeface="Calibri"/>
              </a:defRPr>
            </a:pPr>
            <a:r>
              <a:t>Score published to</a:t>
            </a:r>
            <a:br/>
            <a:r>
              <a:t>Midnight attestation</a:t>
            </a:r>
            <a:br/>
            <a:r>
              <a:t>store via ZK 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5693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1645920"/>
            <a:ext cx="1737360" cy="4114800"/>
          </a:xfrm>
          <a:prstGeom prst="rect">
            <a:avLst/>
          </a:prstGeom>
          <a:solidFill>
            <a:srgbClr val="0A0F2A"/>
          </a:solidFill>
          <a:ln w="6350">
            <a:solidFill>
              <a:srgbClr val="B56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853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2377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F4FF"/>
                </a:solidFill>
                <a:latin typeface="Calibri"/>
              </a:defRPr>
            </a:pPr>
            <a:r>
              <a:t>Sync to Canton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834640"/>
            <a:ext cx="1463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F4FF"/>
                </a:solidFill>
                <a:latin typeface="Calibri"/>
              </a:defRPr>
            </a:pPr>
            <a:r>
              <a:t>Backend detects attestation</a:t>
            </a:r>
            <a:br/>
            <a:r>
              <a:t>→ creates KredzScore</a:t>
            </a:r>
            <a:br/>
            <a:r>
              <a:t>DAML contract on Canton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5693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0" y="1645920"/>
            <a:ext cx="1737360" cy="4114800"/>
          </a:xfrm>
          <a:prstGeom prst="rect">
            <a:avLst/>
          </a:prstGeom>
          <a:solidFill>
            <a:srgbClr val="0A0F2A"/>
          </a:solidFill>
          <a:ln w="6350">
            <a:solidFill>
              <a:srgbClr val="B56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9556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853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5560" y="2377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F4FF"/>
                </a:solidFill>
                <a:latin typeface="Calibri"/>
              </a:defRPr>
            </a:pPr>
            <a:r>
              <a:t>Lender Queries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5560" y="2834640"/>
            <a:ext cx="1463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F4FF"/>
                </a:solidFill>
                <a:latin typeface="Calibri"/>
              </a:defRPr>
            </a:pPr>
            <a:r>
              <a:t>Institutional lender</a:t>
            </a:r>
            <a:br/>
            <a:r>
              <a:t>queries score via</a:t>
            </a:r>
            <a:br/>
            <a:r>
              <a:t>QueryScore → response</a:t>
            </a:r>
            <a:br/>
            <a:r>
              <a:t>visible only to lender!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0350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98A92"/>
                </a:solidFill>
                <a:latin typeface="Calibri"/>
              </a:defRPr>
            </a:pPr>
            <a:r>
              <a:t>Privacy verified at every step: ZK on Midnight protects borrower data. Sub-transaction privacy on Canton protects lender activity.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73152" cy="54864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Three Privacy Tiers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291840" cy="4572000"/>
          </a:xfrm>
          <a:prstGeom prst="rect">
            <a:avLst/>
          </a:prstGeom>
          <a:solidFill>
            <a:srgbClr val="0A0F2A"/>
          </a:solidFill>
          <a:ln w="6350">
            <a:solidFill>
              <a:srgbClr val="B56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3291840" cy="4572000"/>
          </a:xfrm>
          <a:prstGeom prst="rect">
            <a:avLst/>
          </a:prstGeom>
          <a:solidFill>
            <a:srgbClr val="0A0F2A"/>
          </a:solidFill>
          <a:ln w="6350">
            <a:solidFill>
              <a:srgbClr val="898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853"/>
                </a:solidFill>
                <a:latin typeface="Calibri"/>
              </a:defRPr>
            </a:pPr>
            <a:r>
              <a:t>Tier 0: Anonymous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56939"/>
                </a:solidFill>
                <a:latin typeface="Calibri"/>
              </a:defRPr>
            </a:pPr>
            <a:r>
              <a:t>Score: 0–400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F4FF"/>
                </a:solidFill>
                <a:latin typeface="Calibri"/>
              </a:defRPr>
            </a:pPr>
            <a:r>
              <a:t>No identity required</a:t>
            </a:r>
            <a:br/>
            <a:br/>
            <a:r>
              <a:t>• On-chain wallet analysis</a:t>
            </a:r>
            <a:br/>
            <a:r>
              <a:t>• Transaction history</a:t>
            </a:r>
            <a:br/>
            <a:r>
              <a:t>• DeFi interactions</a:t>
            </a:r>
            <a:br/>
            <a:r>
              <a:t>• Literacy modules</a:t>
            </a:r>
            <a:br/>
            <a:br/>
            <a:r>
              <a:t>→ Micro-lending access</a:t>
            </a:r>
            <a:br/>
            <a:r>
              <a:t>→ No KYC friction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645920"/>
            <a:ext cx="3291840" cy="4572000"/>
          </a:xfrm>
          <a:prstGeom prst="rect">
            <a:avLst/>
          </a:prstGeom>
          <a:solidFill>
            <a:srgbClr val="0A0F2A"/>
          </a:solidFill>
          <a:ln w="6350">
            <a:solidFill>
              <a:srgbClr val="B56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1645920"/>
            <a:ext cx="3291840" cy="4572000"/>
          </a:xfrm>
          <a:prstGeom prst="rect">
            <a:avLst/>
          </a:prstGeom>
          <a:solidFill>
            <a:srgbClr val="0A0F2A"/>
          </a:solidFill>
          <a:ln w="19050">
            <a:solidFill>
              <a:srgbClr val="D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853"/>
                </a:solidFill>
                <a:latin typeface="Calibri"/>
              </a:defRPr>
            </a:pPr>
            <a:r>
              <a:t>Tier 1: Pseudonymous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1945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56939"/>
                </a:solidFill>
                <a:latin typeface="Calibri"/>
              </a:defRPr>
            </a:pPr>
            <a:r>
              <a:t>Score: 0–650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65176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F4FF"/>
                </a:solidFill>
                <a:latin typeface="Calibri"/>
              </a:defRPr>
            </a:pPr>
            <a:r>
              <a:t>1 ZK-proven attribute</a:t>
            </a:r>
            <a:br/>
            <a:br/>
            <a:r>
              <a:t>• All Tier 0 features</a:t>
            </a:r>
            <a:br/>
            <a:r>
              <a:t>• Income OR employment</a:t>
            </a:r>
            <a:br/>
            <a:r>
              <a:t>  ZK attestation</a:t>
            </a:r>
            <a:br/>
            <a:r>
              <a:t>• Mid-tier lending</a:t>
            </a:r>
            <a:br/>
            <a:br/>
            <a:r>
              <a:t>→ Privacy preserved</a:t>
            </a:r>
            <a:br/>
            <a:r>
              <a:t>→ Higher credit limits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645920"/>
            <a:ext cx="3291840" cy="4572000"/>
          </a:xfrm>
          <a:prstGeom prst="rect">
            <a:avLst/>
          </a:prstGeom>
          <a:solidFill>
            <a:srgbClr val="0A0F2A"/>
          </a:solidFill>
          <a:ln w="6350">
            <a:solidFill>
              <a:srgbClr val="B56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645920"/>
            <a:ext cx="3291840" cy="4572000"/>
          </a:xfrm>
          <a:prstGeom prst="rect">
            <a:avLst/>
          </a:prstGeom>
          <a:solidFill>
            <a:srgbClr val="0A0F2A"/>
          </a:solidFill>
          <a:ln w="6350">
            <a:solidFill>
              <a:srgbClr val="898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853"/>
                </a:solidFill>
                <a:latin typeface="Calibri"/>
              </a:defRPr>
            </a:pPr>
            <a:r>
              <a:t>Tier 2: Full Compliance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1945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56939"/>
                </a:solidFill>
                <a:latin typeface="Calibri"/>
              </a:defRPr>
            </a:pPr>
            <a:r>
              <a:t>Score: 0–1000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65176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F4FF"/>
                </a:solidFill>
                <a:latin typeface="Calibri"/>
              </a:defRPr>
            </a:pPr>
            <a:r>
              <a:t>Full ZK-KYC bundle</a:t>
            </a:r>
            <a:br/>
            <a:br/>
            <a:r>
              <a:t>• All Tier 1 features</a:t>
            </a:r>
            <a:br/>
            <a:r>
              <a:t>• Full credential attestation</a:t>
            </a:r>
            <a:br/>
            <a:r>
              <a:t>• Canton lender access</a:t>
            </a:r>
            <a:br/>
            <a:br/>
            <a:r>
              <a:t>→ Institutional liquidity</a:t>
            </a:r>
            <a:br/>
            <a:r>
              <a:t>→ MiCA/GENIUS compliant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73152" cy="54864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Revenue Model — $240K Year 1 Target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32720" cy="1005840"/>
          </a:xfrm>
          <a:prstGeom prst="rect">
            <a:avLst/>
          </a:prstGeom>
          <a:solidFill>
            <a:srgbClr val="0A0F2A"/>
          </a:solidFill>
          <a:ln w="6350">
            <a:solidFill>
              <a:srgbClr val="B56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91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853"/>
                </a:solidFill>
                <a:latin typeface="Calibri"/>
              </a:defRPr>
            </a:pPr>
            <a:r>
              <a:t>Score API (B2B)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783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B56939"/>
                </a:solidFill>
                <a:latin typeface="Calibri"/>
              </a:defRPr>
            </a:pPr>
            <a:r>
              <a:t>$15K/mo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783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98A92"/>
                </a:solidFill>
                <a:latin typeface="Calibri"/>
              </a:defRPr>
            </a:pPr>
            <a:r>
              <a:t>$90K/yr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057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F4FF"/>
                </a:solidFill>
                <a:latin typeface="Calibri"/>
              </a:defRPr>
            </a:pPr>
            <a:r>
              <a:t>Institutional lenders pay per score query.</a:t>
            </a:r>
            <a:br/>
            <a:r>
              <a:t>Tiered: $0.50 (≤1K), $0.25 (≤10K), $0.10 (10K+).</a:t>
            </a:r>
            <a:br/>
            <a:r>
              <a:t>Canton direct: enterprise negotiated.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834640"/>
            <a:ext cx="10332720" cy="1005840"/>
          </a:xfrm>
          <a:prstGeom prst="rect">
            <a:avLst/>
          </a:prstGeom>
          <a:solidFill>
            <a:srgbClr val="0A0F2A"/>
          </a:solidFill>
          <a:ln w="6350">
            <a:solidFill>
              <a:srgbClr val="B56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880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853"/>
                </a:solidFill>
                <a:latin typeface="Calibri"/>
              </a:defRPr>
            </a:pPr>
            <a:r>
              <a:t>Premium Subscriptions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971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B56939"/>
                </a:solidFill>
                <a:latin typeface="Calibri"/>
              </a:defRPr>
            </a:pPr>
            <a:r>
              <a:t>$10K/mo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971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98A92"/>
                </a:solidFill>
                <a:latin typeface="Calibri"/>
              </a:defRPr>
            </a:pPr>
            <a:r>
              <a:t>$60K/yr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2461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F4FF"/>
                </a:solidFill>
                <a:latin typeface="Calibri"/>
              </a:defRPr>
            </a:pPr>
            <a:r>
              <a:t>Users: $7/mo (coaching, priority KYC, 15 modules)</a:t>
            </a:r>
            <a:br/>
            <a:r>
              <a:t>$15/mo (adverse action simulator, score forecast).</a:t>
            </a:r>
            <a:br/>
            <a:r>
              <a:t>→ Built-in literacy gamification drives conversion.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023360"/>
            <a:ext cx="10332720" cy="1005840"/>
          </a:xfrm>
          <a:prstGeom prst="rect">
            <a:avLst/>
          </a:prstGeom>
          <a:solidFill>
            <a:srgbClr val="0A0F2A"/>
          </a:solidFill>
          <a:ln w="6350">
            <a:solidFill>
              <a:srgbClr val="B56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069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853"/>
                </a:solidFill>
                <a:latin typeface="Calibri"/>
              </a:defRPr>
            </a:pPr>
            <a:r>
              <a:t>Literacy SaaS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160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B56939"/>
                </a:solidFill>
                <a:latin typeface="Calibri"/>
              </a:defRPr>
            </a:pPr>
            <a:r>
              <a:t>$10K/mo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4160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98A92"/>
                </a:solidFill>
                <a:latin typeface="Calibri"/>
              </a:defRPr>
            </a:pPr>
            <a:r>
              <a:t>$60K/yr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434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F4FF"/>
                </a:solidFill>
                <a:latin typeface="Calibri"/>
              </a:defRPr>
            </a:pPr>
            <a:r>
              <a:t>White-label literacy modules for neobanks/wallets.</a:t>
            </a:r>
            <a:br/>
            <a:r>
              <a:t>$5K/mo per institution.</a:t>
            </a:r>
            <a:br/>
            <a:r>
              <a:t>Custom module creation: $10K/module.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212080"/>
            <a:ext cx="10332720" cy="1005840"/>
          </a:xfrm>
          <a:prstGeom prst="rect">
            <a:avLst/>
          </a:prstGeom>
          <a:solidFill>
            <a:srgbClr val="0A0F2A"/>
          </a:solidFill>
          <a:ln w="6350">
            <a:solidFill>
              <a:srgbClr val="B56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257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853"/>
                </a:solidFill>
                <a:latin typeface="Calibri"/>
              </a:defRPr>
            </a:pPr>
            <a:r>
              <a:t>Protocol Integrations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5349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B56939"/>
                </a:solidFill>
                <a:latin typeface="Calibri"/>
              </a:defRPr>
            </a:pPr>
            <a:r>
              <a:t>$5K/mo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5349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98A92"/>
                </a:solidFill>
                <a:latin typeface="Calibri"/>
              </a:defRPr>
            </a:pPr>
            <a:r>
              <a:t>$30K/yr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623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F4FF"/>
                </a:solidFill>
                <a:latin typeface="Calibri"/>
              </a:defRPr>
            </a:pPr>
            <a:r>
              <a:t>Base oracle read: free (open).</a:t>
            </a:r>
            <a:br/>
            <a:r>
              <a:t>Webhook subscription: $500/mo.</a:t>
            </a:r>
            <a:br/>
            <a:r>
              <a:t>Custom support: $5K one-time.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853"/>
                </a:solidFill>
                <a:latin typeface="Calibri"/>
              </a:defRPr>
            </a:pPr>
            <a:r>
              <a:t>Total Year 1: $240,000 revenue · 500 credentialed users · 5 institutional partners · 10 Base DeFi integrations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73152" cy="54864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Roadmap — From Testnet to Institutional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32720" cy="1051560"/>
          </a:xfrm>
          <a:prstGeom prst="rect">
            <a:avLst/>
          </a:prstGeom>
          <a:solidFill>
            <a:srgbClr val="0A0F2A"/>
          </a:solidFill>
          <a:ln w="6350">
            <a:solidFill>
              <a:srgbClr val="B56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91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56939"/>
                </a:solidFill>
                <a:latin typeface="Calibri"/>
              </a:defRPr>
            </a:pPr>
            <a:r>
              <a:t>Phase 0: Now – Jul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20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853"/>
                </a:solidFill>
                <a:latin typeface="Calibri"/>
              </a:defRPr>
            </a:pPr>
            <a:r>
              <a:t>Testnet + Canton Launch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945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F4FF"/>
                </a:solidFill>
                <a:latin typeface="Calibri"/>
              </a:defRPr>
            </a:pPr>
            <a:r>
              <a:t>• Compile kredz.compact</a:t>
            </a:r>
            <a:br/>
            <a:r>
              <a:t>• Canton DevNet deployment</a:t>
            </a:r>
            <a:br/>
            <a:r>
              <a:t>• Score API live</a:t>
            </a:r>
            <a:br/>
            <a:r>
              <a:t>• DAML Script tests passing</a:t>
            </a:r>
            <a:br/>
            <a:r>
              <a:t>• Hackathon submission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880360"/>
            <a:ext cx="10332720" cy="1051560"/>
          </a:xfrm>
          <a:prstGeom prst="rect">
            <a:avLst/>
          </a:prstGeom>
          <a:solidFill>
            <a:srgbClr val="0A0F2A"/>
          </a:solidFill>
          <a:ln w="6350">
            <a:solidFill>
              <a:srgbClr val="B56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926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56939"/>
                </a:solidFill>
                <a:latin typeface="Calibri"/>
              </a:defRPr>
            </a:pPr>
            <a:r>
              <a:t>Phase 1: Q3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54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853"/>
                </a:solidFill>
                <a:latin typeface="Calibri"/>
              </a:defRPr>
            </a:pPr>
            <a:r>
              <a:t>Midnight Mainnet MVP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429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F4FF"/>
                </a:solidFill>
                <a:latin typeface="Calibri"/>
              </a:defRPr>
            </a:pPr>
            <a:r>
              <a:t>• Mainnet deployment</a:t>
            </a:r>
            <a:br/>
            <a:r>
              <a:t>• 100 credentialed users</a:t>
            </a:r>
            <a:br/>
            <a:r>
              <a:t>• 3 Base DeFi integrations</a:t>
            </a:r>
            <a:br/>
            <a:r>
              <a:t>• SumSub KYC live</a:t>
            </a:r>
            <a:br/>
            <a:r>
              <a:t>• Brankas SEA bank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114800"/>
            <a:ext cx="10332720" cy="1051560"/>
          </a:xfrm>
          <a:prstGeom prst="rect">
            <a:avLst/>
          </a:prstGeom>
          <a:solidFill>
            <a:srgbClr val="0A0F2A"/>
          </a:solidFill>
          <a:ln w="6350">
            <a:solidFill>
              <a:srgbClr val="B56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160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56939"/>
                </a:solidFill>
                <a:latin typeface="Calibri"/>
              </a:defRPr>
            </a:pPr>
            <a:r>
              <a:t>Phase 2: Q4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389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853"/>
                </a:solidFill>
                <a:latin typeface="Calibri"/>
              </a:defRPr>
            </a:pPr>
            <a:r>
              <a:t>Canton Institutional Lenders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663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F4FF"/>
                </a:solidFill>
                <a:latin typeface="Calibri"/>
              </a:defRPr>
            </a:pPr>
            <a:r>
              <a:t>• First institutional lender</a:t>
            </a:r>
            <a:br/>
            <a:r>
              <a:t>  on Canton</a:t>
            </a:r>
            <a:br/>
            <a:r>
              <a:t>• KredzScore DAML contracts</a:t>
            </a:r>
            <a:br/>
            <a:r>
              <a:t>  deployed to MainNet</a:t>
            </a:r>
            <a:br/>
            <a:r>
              <a:t>• Compliance audit export</a:t>
            </a:r>
            <a:br/>
            <a:r>
              <a:t>• MiCA documentation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349240"/>
            <a:ext cx="10332720" cy="1051560"/>
          </a:xfrm>
          <a:prstGeom prst="rect">
            <a:avLst/>
          </a:prstGeom>
          <a:solidFill>
            <a:srgbClr val="0A0F2A"/>
          </a:solidFill>
          <a:ln w="6350">
            <a:solidFill>
              <a:srgbClr val="B56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394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56939"/>
                </a:solidFill>
                <a:latin typeface="Calibri"/>
              </a:defRPr>
            </a:pPr>
            <a:r>
              <a:t>Phase 3: 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623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853"/>
                </a:solidFill>
                <a:latin typeface="Calibri"/>
              </a:defRPr>
            </a:pPr>
            <a:r>
              <a:t>Scale + ZK-ML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8978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F4FF"/>
                </a:solidFill>
                <a:latin typeface="Calibri"/>
              </a:defRPr>
            </a:pPr>
            <a:r>
              <a:t>• 10+ institutional lenders</a:t>
            </a:r>
            <a:br/>
            <a:r>
              <a:t>• ZK-ML proof for scoring</a:t>
            </a:r>
            <a:br/>
            <a:r>
              <a:t>  engine (EZKL)</a:t>
            </a:r>
            <a:br/>
            <a:r>
              <a:t>• 15 literacy modules</a:t>
            </a:r>
            <a:br/>
            <a:r>
              <a:t>• Literacy SaaS licensing</a:t>
            </a:r>
            <a:br/>
            <a:r>
              <a:t>• DAO governance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98A92"/>
                </a:solidFill>
                <a:latin typeface="Calibri"/>
              </a:defRPr>
            </a:pPr>
            <a:r>
              <a:t>Current: kredz-frontend built · DAML contracts written · Scoring engine scaffolded · Ready for Canton hackathon deployment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73152" cy="54864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Team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56939"/>
                </a:solidFill>
                <a:latin typeface="Calibri"/>
              </a:defRPr>
            </a:pPr>
            <a:r>
              <a:t>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F4FF"/>
                </a:solidFill>
                <a:latin typeface="Calibri"/>
              </a:defRPr>
            </a:pPr>
            <a:r>
              <a:t>DeDanzi / Tawf Labs</a:t>
            </a:r>
            <a:br/>
            <a:r>
              <a:t>@dedanzi/midnight-mobile-sdk (npm)</a:t>
            </a:r>
            <a:br/>
            <a:r>
              <a:t>Midnight Hackathon participant</a:t>
            </a:r>
            <a:br/>
            <a:r>
              <a:t>Active in Midnight Discord community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853"/>
                </a:solidFill>
                <a:latin typeface="Calibri"/>
              </a:defRPr>
            </a:pPr>
            <a:r>
              <a:t>Built on Midnight Build Club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FF4FF"/>
                </a:solidFill>
                <a:latin typeface="Calibri"/>
              </a:defRPr>
            </a:pPr>
            <a:r>
              <a:t>Midnight Network — ZK privacy</a:t>
            </a:r>
          </a:p>
          <a:p>
            <a:pPr>
              <a:defRPr sz="1300">
                <a:solidFill>
                  <a:srgbClr val="EFF4FF"/>
                </a:solidFill>
                <a:latin typeface="Calibri"/>
              </a:defRPr>
            </a:pPr>
            <a:r>
              <a:t>Canton Network — Institutional DeFi</a:t>
            </a:r>
          </a:p>
          <a:p>
            <a:pPr>
              <a:defRPr sz="1300">
                <a:solidFill>
                  <a:srgbClr val="EFF4FF"/>
                </a:solidFill>
                <a:latin typeface="Calibri"/>
              </a:defRPr>
            </a:pPr>
            <a:r>
              <a:t>Base — EVM portability</a:t>
            </a:r>
          </a:p>
          <a:p>
            <a:pPr>
              <a:defRPr sz="1300">
                <a:solidFill>
                  <a:srgbClr val="EFF4FF"/>
                </a:solidFill>
                <a:latin typeface="Calibri"/>
              </a:defRPr>
            </a:pPr>
            <a:r>
              <a:t>Compact + DAML + Solidity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56939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FF4FF"/>
                </a:solidFill>
                <a:latin typeface="Calibri"/>
              </a:defRPr>
            </a:pPr>
            <a:r>
              <a:t>React 19 + Vite + TypeScript + Tailwind v4</a:t>
            </a:r>
          </a:p>
          <a:p>
            <a:pPr>
              <a:defRPr sz="1300">
                <a:solidFill>
                  <a:srgbClr val="EFF4FF"/>
                </a:solidFill>
                <a:latin typeface="Calibri"/>
              </a:defRPr>
            </a:pPr>
            <a:r>
              <a:t>Framer Motion animations</a:t>
            </a:r>
          </a:p>
          <a:p>
            <a:pPr>
              <a:defRPr sz="1300">
                <a:solidFill>
                  <a:srgbClr val="EFF4FF"/>
                </a:solidFill>
                <a:latin typeface="Calibri"/>
              </a:defRPr>
            </a:pPr>
            <a:r>
              <a:t>Node.js + Express + Python XGBoost backend</a:t>
            </a:r>
          </a:p>
          <a:p>
            <a:pPr>
              <a:defRPr sz="1300">
                <a:solidFill>
                  <a:srgbClr val="EFF4FF"/>
                </a:solidFill>
                <a:latin typeface="Calibri"/>
              </a:defRPr>
            </a:pPr>
            <a:r>
              <a:t>Foundry (Solidity) + Hardhat</a:t>
            </a:r>
          </a:p>
          <a:p>
            <a:pPr>
              <a:defRPr sz="1300">
                <a:solidFill>
                  <a:srgbClr val="EFF4FF"/>
                </a:solidFill>
                <a:latin typeface="Calibri"/>
              </a:defRPr>
            </a:pPr>
            <a:r>
              <a:t>Docker Compose (Canton LocalNet)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853"/>
                </a:solidFill>
                <a:latin typeface="Calibri"/>
              </a:defRPr>
            </a:pPr>
            <a:r>
              <a:t>Open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572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FF4FF"/>
                </a:solidFill>
                <a:latin typeface="Calibri"/>
              </a:defRPr>
            </a:pPr>
            <a:r>
              <a:t>github.com/kredz-labs/kredz</a:t>
            </a:r>
          </a:p>
          <a:p>
            <a:pPr>
              <a:defRPr sz="1300">
                <a:solidFill>
                  <a:srgbClr val="EFF4FF"/>
                </a:solidFill>
                <a:latin typeface="Calibri"/>
              </a:defRPr>
            </a:pPr>
            <a:r>
              <a:t>DAML contracts in canton/daml/</a:t>
            </a:r>
          </a:p>
          <a:p>
            <a:pPr>
              <a:defRPr sz="1300">
                <a:solidFill>
                  <a:srgbClr val="EFF4FF"/>
                </a:solidFill>
                <a:latin typeface="Calibri"/>
              </a:defRPr>
            </a:pPr>
            <a:r>
              <a:t>5 DAML Script tests</a:t>
            </a:r>
          </a:p>
          <a:p>
            <a:pPr>
              <a:defRPr sz="1300">
                <a:solidFill>
                  <a:srgbClr val="EFF4FF"/>
                </a:solidFill>
                <a:latin typeface="Calibri"/>
              </a:defRPr>
            </a:pPr>
            <a:r>
              <a:t>OpenAPI 3.1 Score API spec</a:t>
            </a:r>
          </a:p>
          <a:p>
            <a:pPr>
              <a:defRPr sz="1300">
                <a:solidFill>
                  <a:srgbClr val="EFF4FF"/>
                </a:solidFill>
                <a:latin typeface="Calibri"/>
              </a:defRPr>
            </a:pPr>
            <a:r>
              <a:t>Docker Compose for Canton LocalNet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D4A853"/>
                </a:solidFill>
                <a:latin typeface="Georgia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2926080"/>
            <a:ext cx="2103120" cy="54864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FF4FF"/>
                </a:solidFill>
                <a:latin typeface="Calibri"/>
              </a:defRPr>
            </a:pPr>
            <a:r>
              <a:t>kredz.xyz — The Dual-Privacy Credit Identity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98A92"/>
                </a:solidFill>
                <a:latin typeface="Calibri"/>
              </a:defRPr>
            </a:pPr>
            <a:r>
              <a:t>One score. Two privacy models. Three networks. Zero raw data exposed.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56939"/>
                </a:solidFill>
                <a:latin typeface="Calibri"/>
              </a:defRPr>
            </a:pPr>
            <a:r>
              <a:t>github.com/kredz-labs/kredz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98A92"/>
                </a:solidFill>
                <a:latin typeface="Calibri"/>
              </a:defRPr>
            </a:pPr>
            <a:r>
              <a:t>Built for the Build on Canton Hackathon · 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98A92"/>
                </a:solidFill>
                <a:latin typeface="Calibri"/>
              </a:defRPr>
            </a:pPr>
            <a:r>
              <a:t>Track: Private DeFi &amp; Capital Markets · Canton Foundation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